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CRUD — Cadastro de Produtos em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A80A0"/>
                </a:solidFill>
                <a:latin typeface="Calibri"/>
              </a:rPr>
              <a:t>Diagrama de Blocos — Lógica Geral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A3A"/>
                </a:solidFill>
                <a:latin typeface="Consolas"/>
              </a:rPr>
              <a:t>INÍCIO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25880" y="1335024"/>
            <a:ext cx="0" cy="146304"/>
          </a:xfrm>
          <a:prstGeom prst="line">
            <a:avLst/>
          </a:prstGeom>
          <a:ln w="20320">
            <a:solidFill>
              <a:srgbClr val="4F8EF7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481328"/>
            <a:ext cx="1737360" cy="347472"/>
          </a:xfrm>
          <a:prstGeom prst="rect">
            <a:avLst/>
          </a:prstGeom>
          <a:solidFill>
            <a:srgbClr val="1A203A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4F8EF7"/>
                </a:solidFill>
                <a:latin typeface="Consolas"/>
              </a:rPr>
              <a:t>idProduto[10] = {0}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1828800"/>
            <a:ext cx="0" cy="146304"/>
          </a:xfrm>
          <a:prstGeom prst="line">
            <a:avLst/>
          </a:prstGeom>
          <a:ln w="20320">
            <a:solidFill>
              <a:srgbClr val="4F8EF7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1975104"/>
            <a:ext cx="1737360" cy="484632"/>
          </a:xfrm>
          <a:prstGeom prst="rect">
            <a:avLst/>
          </a:prstGeom>
          <a:solidFill>
            <a:srgbClr val="1A203A"/>
          </a:solidFill>
          <a:ln w="19050">
            <a:solidFill>
              <a:srgbClr val="F7C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7C04F"/>
                </a:solidFill>
                <a:latin typeface="Consolas"/>
              </a:rPr>
              <a:t>Exibe MENU</a:t>
            </a:r>
          </a:p>
          <a:p>
            <a:pPr algn="ctr"/>
            <a:r>
              <a:rPr sz="850" b="1">
                <a:solidFill>
                  <a:srgbClr val="F7C04F"/>
                </a:solidFill>
                <a:latin typeface="Consolas"/>
              </a:rPr>
              <a:t>(1-5 / 0-Sair)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2459736"/>
            <a:ext cx="0" cy="146304"/>
          </a:xfrm>
          <a:prstGeom prst="line">
            <a:avLst/>
          </a:prstGeom>
          <a:ln w="20320">
            <a:solidFill>
              <a:srgbClr val="F7C04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2606040"/>
            <a:ext cx="1737360" cy="347472"/>
          </a:xfrm>
          <a:prstGeom prst="rect">
            <a:avLst/>
          </a:prstGeom>
          <a:solidFill>
            <a:srgbClr val="1A203A"/>
          </a:solidFill>
          <a:ln w="19050">
            <a:solidFill>
              <a:srgbClr val="F7C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7C04F"/>
                </a:solidFill>
                <a:latin typeface="Consolas"/>
              </a:rPr>
              <a:t>Lê opção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25880" y="2953512"/>
            <a:ext cx="0" cy="173736"/>
          </a:xfrm>
          <a:prstGeom prst="line">
            <a:avLst/>
          </a:prstGeom>
          <a:ln w="20320">
            <a:solidFill>
              <a:srgbClr val="F7C04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457200" y="3127248"/>
            <a:ext cx="1737360" cy="475488"/>
          </a:xfrm>
          <a:prstGeom prst="diamond">
            <a:avLst/>
          </a:prstGeom>
          <a:solidFill>
            <a:srgbClr val="0D1A3A"/>
          </a:solidFill>
          <a:ln w="19050">
            <a:solidFill>
              <a:srgbClr val="F7C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7C04F"/>
                </a:solidFill>
                <a:latin typeface="Consolas"/>
              </a:rPr>
              <a:t>opcao</a:t>
            </a:r>
          </a:p>
          <a:p>
            <a:pPr algn="ctr"/>
            <a:r>
              <a:rPr sz="800" b="1">
                <a:solidFill>
                  <a:srgbClr val="F7C04F"/>
                </a:solidFill>
                <a:latin typeface="Consolas"/>
              </a:rPr>
              <a:t>== 0?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25880" y="3602736"/>
            <a:ext cx="0" cy="182879"/>
          </a:xfrm>
          <a:prstGeom prst="line">
            <a:avLst/>
          </a:prstGeom>
          <a:ln w="20320">
            <a:solidFill>
              <a:srgbClr val="F7C04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62102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i="1">
                <a:solidFill>
                  <a:srgbClr val="F7C04F"/>
                </a:solidFill>
                <a:latin typeface="Consolas"/>
              </a:rPr>
              <a:t>SIM 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85615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A3A"/>
                </a:solidFill>
                <a:latin typeface="Consolas"/>
              </a:rPr>
              <a:t>FIM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3364992"/>
            <a:ext cx="457200" cy="0"/>
          </a:xfrm>
          <a:prstGeom prst="line">
            <a:avLst/>
          </a:prstGeom>
          <a:ln w="20320">
            <a:solidFill>
              <a:srgbClr val="F7C04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03120" y="32461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i="1">
                <a:solidFill>
                  <a:srgbClr val="F7C04F"/>
                </a:solidFill>
                <a:latin typeface="Consolas"/>
              </a:rPr>
              <a:t>NÃO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200400"/>
            <a:ext cx="1371600" cy="347472"/>
          </a:xfrm>
          <a:prstGeom prst="rect">
            <a:avLst/>
          </a:prstGeom>
          <a:solidFill>
            <a:srgbClr val="1A203A"/>
          </a:solidFill>
          <a:ln w="19050">
            <a:solidFill>
              <a:srgbClr val="F7C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7C04F"/>
                </a:solidFill>
                <a:latin typeface="Consolas"/>
              </a:rPr>
              <a:t>switch(opcao)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337560" y="2103120"/>
            <a:ext cx="0" cy="1097280"/>
          </a:xfrm>
          <a:prstGeom prst="line">
            <a:avLst/>
          </a:prstGeom>
          <a:ln w="20320">
            <a:solidFill>
              <a:srgbClr val="7A80A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194560" y="2103120"/>
            <a:ext cx="1143000" cy="0"/>
          </a:xfrm>
          <a:prstGeom prst="line">
            <a:avLst/>
          </a:prstGeom>
          <a:ln w="20320">
            <a:solidFill>
              <a:srgbClr val="7A80A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83280" y="260604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i="1">
                <a:solidFill>
                  <a:srgbClr val="7A80A0"/>
                </a:solidFill>
                <a:latin typeface="Consolas"/>
              </a:rPr>
              <a:t>↑ volta ao menu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1179576"/>
            <a:ext cx="1600200" cy="2185416"/>
          </a:xfrm>
          <a:prstGeom prst="line">
            <a:avLst/>
          </a:prstGeom>
          <a:ln w="20320">
            <a:solidFill>
              <a:srgbClr val="4FF79E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937760" y="1005840"/>
            <a:ext cx="1463040" cy="347472"/>
          </a:xfrm>
          <a:prstGeom prst="rect">
            <a:avLst/>
          </a:prstGeom>
          <a:solidFill>
            <a:srgbClr val="1A203A"/>
          </a:solidFill>
          <a:ln w="19050">
            <a:solidFill>
              <a:srgbClr val="4FF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4FF79E"/>
                </a:solidFill>
                <a:latin typeface="Consolas"/>
              </a:rPr>
              <a:t>1 - Incluir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337560" y="1956816"/>
            <a:ext cx="1600200" cy="1408176"/>
          </a:xfrm>
          <a:prstGeom prst="line">
            <a:avLst/>
          </a:prstGeom>
          <a:ln w="20320">
            <a:solidFill>
              <a:srgbClr val="4F8EF7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937760" y="1783080"/>
            <a:ext cx="1463040" cy="347472"/>
          </a:xfrm>
          <a:prstGeom prst="rect">
            <a:avLst/>
          </a:prstGeom>
          <a:solidFill>
            <a:srgbClr val="1A203A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4F8EF7"/>
                </a:solidFill>
                <a:latin typeface="Consolas"/>
              </a:rPr>
              <a:t>2 - Consultar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337560" y="2734056"/>
            <a:ext cx="1600200" cy="630936"/>
          </a:xfrm>
          <a:prstGeom prst="line">
            <a:avLst/>
          </a:prstGeom>
          <a:ln w="20320">
            <a:solidFill>
              <a:srgbClr val="F7804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937760" y="2560320"/>
            <a:ext cx="1463040" cy="347472"/>
          </a:xfrm>
          <a:prstGeom prst="rect">
            <a:avLst/>
          </a:prstGeom>
          <a:solidFill>
            <a:srgbClr val="1A203A"/>
          </a:solidFill>
          <a:ln w="19050">
            <a:solidFill>
              <a:srgbClr val="F78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7804F"/>
                </a:solidFill>
                <a:latin typeface="Consolas"/>
              </a:rPr>
              <a:t>3 - Alterar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37560" y="3364992"/>
            <a:ext cx="1600200" cy="146304"/>
          </a:xfrm>
          <a:prstGeom prst="line">
            <a:avLst/>
          </a:prstGeom>
          <a:ln w="20320">
            <a:solidFill>
              <a:srgbClr val="F74F4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937760" y="3337560"/>
            <a:ext cx="1463040" cy="347472"/>
          </a:xfrm>
          <a:prstGeom prst="rect">
            <a:avLst/>
          </a:prstGeom>
          <a:solidFill>
            <a:srgbClr val="1A203A"/>
          </a:solidFill>
          <a:ln w="19050">
            <a:solidFill>
              <a:srgbClr val="F7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74F4F"/>
                </a:solidFill>
                <a:latin typeface="Consolas"/>
              </a:rPr>
              <a:t>4 - Excluir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37560" y="3364992"/>
            <a:ext cx="1600200" cy="923544"/>
          </a:xfrm>
          <a:prstGeom prst="line">
            <a:avLst/>
          </a:prstGeom>
          <a:ln w="20320">
            <a:solidFill>
              <a:srgbClr val="BF4FF7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937760" y="4114800"/>
            <a:ext cx="1463040" cy="347472"/>
          </a:xfrm>
          <a:prstGeom prst="rect">
            <a:avLst/>
          </a:prstGeom>
          <a:solidFill>
            <a:srgbClr val="1A203A"/>
          </a:solidFill>
          <a:ln w="19050">
            <a:solidFill>
              <a:srgbClr val="BF4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4FF7"/>
                </a:solidFill>
                <a:latin typeface="Consolas"/>
              </a:rPr>
              <a:t>5 - Listar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987552"/>
            <a:ext cx="5120640" cy="274320"/>
          </a:xfrm>
          <a:prstGeom prst="rect">
            <a:avLst/>
          </a:prstGeom>
          <a:solidFill>
            <a:srgbClr val="4FF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9875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D1A3A"/>
                </a:solidFill>
                <a:latin typeface="Consolas"/>
              </a:rPr>
              <a:t>INCLUIR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1261872"/>
            <a:ext cx="5120640" cy="548640"/>
          </a:xfrm>
          <a:prstGeom prst="rect">
            <a:avLst/>
          </a:prstGeom>
          <a:solidFill>
            <a:srgbClr val="1A203A"/>
          </a:solidFill>
          <a:ln w="12700">
            <a:solidFill>
              <a:srgbClr val="4FF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59" y="1280160"/>
            <a:ext cx="49377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Busca posição livre (id == 0)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Armazena novo ID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Exibe confirmação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Se cheio: avisa erro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1901952"/>
            <a:ext cx="5120640" cy="2743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19019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D1A3A"/>
                </a:solidFill>
                <a:latin typeface="Consolas"/>
              </a:rPr>
              <a:t>CONSULTAR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2176272"/>
            <a:ext cx="5120640" cy="548640"/>
          </a:xfrm>
          <a:prstGeom prst="rect">
            <a:avLst/>
          </a:prstGeom>
          <a:solidFill>
            <a:srgbClr val="1A20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2194560"/>
            <a:ext cx="49377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Solicita ID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Percorre array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Se achar: exibe posição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Se não: 'não encontrado'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2816352"/>
            <a:ext cx="5120640" cy="274320"/>
          </a:xfrm>
          <a:prstGeom prst="rect">
            <a:avLst/>
          </a:prstGeom>
          <a:solidFill>
            <a:srgbClr val="F78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28163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D1A3A"/>
                </a:solidFill>
                <a:latin typeface="Consolas"/>
              </a:rPr>
              <a:t>ALTERAR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090672"/>
            <a:ext cx="5120640" cy="548640"/>
          </a:xfrm>
          <a:prstGeom prst="rect">
            <a:avLst/>
          </a:prstGeom>
          <a:solidFill>
            <a:srgbClr val="1A203A"/>
          </a:solidFill>
          <a:ln w="12700">
            <a:solidFill>
              <a:srgbClr val="F78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59" y="3108960"/>
            <a:ext cx="49377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Solicita ID atual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Localiza no array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Solicita novo ID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Substitui o valor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3730752"/>
            <a:ext cx="5120640" cy="274320"/>
          </a:xfrm>
          <a:prstGeom prst="rect">
            <a:avLst/>
          </a:prstGeom>
          <a:solidFill>
            <a:srgbClr val="F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37307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D1A3A"/>
                </a:solidFill>
                <a:latin typeface="Consolas"/>
              </a:rPr>
              <a:t>EXCLUIR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4005072"/>
            <a:ext cx="5120640" cy="548640"/>
          </a:xfrm>
          <a:prstGeom prst="rect">
            <a:avLst/>
          </a:prstGeom>
          <a:solidFill>
            <a:srgbClr val="1A203A"/>
          </a:solidFill>
          <a:ln w="12700">
            <a:solidFill>
              <a:srgbClr val="F7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59" y="4023359"/>
            <a:ext cx="49377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Solicita ID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Localiza no array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Substitui por 0 (zero)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Exibe confirmação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4645152"/>
            <a:ext cx="5120640" cy="274320"/>
          </a:xfrm>
          <a:prstGeom prst="rect">
            <a:avLst/>
          </a:prstGeom>
          <a:solidFill>
            <a:srgbClr val="BF4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46451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D1A3A"/>
                </a:solidFill>
                <a:latin typeface="Consolas"/>
              </a:rPr>
              <a:t>LISTAR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4919472"/>
            <a:ext cx="5120640" cy="548640"/>
          </a:xfrm>
          <a:prstGeom prst="rect">
            <a:avLst/>
          </a:prstGeom>
          <a:solidFill>
            <a:srgbClr val="1A203A"/>
          </a:solidFill>
          <a:ln w="12700">
            <a:solidFill>
              <a:srgbClr val="BF4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59" y="4937759"/>
            <a:ext cx="49377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Percorre todo o array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Exibe posições com id != 0</a:t>
            </a:r>
          </a:p>
          <a:p>
            <a:pPr algn="l"/>
            <a:r>
              <a:rPr sz="750">
                <a:solidFill>
                  <a:srgbClr val="FFFFFF"/>
                </a:solidFill>
                <a:latin typeface="Consolas"/>
              </a:rPr>
              <a:t>• Se vazio: avisa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